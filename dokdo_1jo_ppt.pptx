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문장을 천천히 읽기. 숫자는 또박또박, 문장 사이 한 박자 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OCIS_Dokdo_Islands_28492539737129.jpg"/>
          <p:cNvPicPr>
            <a:picLocks noChangeAspect="1"/>
          </p:cNvPicPr>
          <p:nvPr/>
        </p:nvPicPr>
        <p:blipFill>
          <a:blip r:embed="rId2"/>
          <a:srcRect t="9999" b="14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8DA9C4"/>
                </a:solidFill>
                <a:latin typeface="맑은 고딕"/>
              </a:rPr>
              <a:t>독도계기교육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맑은 고딕"/>
              </a:rPr>
              <a:t>독도는 어떤 곳인가?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FFFFFF"/>
                </a:solidFill>
                <a:latin typeface="맑은 고딕"/>
              </a:rPr>
              <a:t>독도의 기본 상식과 자연환경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8DA9C4"/>
                </a:solidFill>
                <a:latin typeface="맑은 고딕"/>
              </a:rPr>
              <a:t>● </a:t>
            </a:r>
            <a:r>
              <a:rPr sz="2200">
                <a:solidFill>
                  <a:srgbClr val="FFFFFF"/>
                </a:solidFill>
                <a:latin typeface="맑은 고딕"/>
              </a:rPr>
              <a:t>안녕하세요, 1조입니다.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8DA9C4"/>
                </a:solidFill>
                <a:latin typeface="맑은 고딕"/>
              </a:rPr>
              <a:t>● </a:t>
            </a:r>
            <a:r>
              <a:rPr sz="2200">
                <a:solidFill>
                  <a:srgbClr val="FFFFFF"/>
                </a:solidFill>
                <a:latin typeface="맑은 고딕"/>
              </a:rPr>
              <a:t>저희 조는 ‘독도는 어떤 곳인가?’를 주제로 독도의 기본 상식과 자연환경을 소개하겠습니다.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8DA9C4"/>
                </a:solidFill>
                <a:latin typeface="맑은 고딕"/>
              </a:rPr>
              <a:t>● </a:t>
            </a:r>
            <a:r>
              <a:rPr sz="2200">
                <a:solidFill>
                  <a:srgbClr val="FFFFFF"/>
                </a:solidFill>
                <a:latin typeface="맑은 고딕"/>
              </a:rPr>
              <a:t>독도를 아는 것이 관심의 시작이라고 생각해서, 가장 기본적인 것부터 알아보았습니다.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DA9C4"/>
                </a:solidFill>
                <a:latin typeface="맑은 고딕"/>
              </a:rPr>
              <a:t>사진: KOCIS, Wikimedia Commons (CC BY-SA 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독도는 어디에 있을까?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331720"/>
            <a:ext cx="9692640" cy="64008"/>
          </a:xfrm>
          <a:prstGeom prst="rect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99132"/>
            <a:ext cx="329184" cy="329184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82880" y="2624328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3315C"/>
                </a:solidFill>
                <a:latin typeface="맑은 고딕"/>
              </a:rPr>
              <a:t>울릉도</a:t>
            </a:r>
          </a:p>
        </p:txBody>
      </p:sp>
      <p:sp>
        <p:nvSpPr>
          <p:cNvPr id="9" name="Oval 8"/>
          <p:cNvSpPr/>
          <p:nvPr/>
        </p:nvSpPr>
        <p:spPr>
          <a:xfrm>
            <a:off x="4419232" y="2135124"/>
            <a:ext cx="457200" cy="45720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6232" y="2624328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07A5F"/>
                </a:solidFill>
                <a:latin typeface="맑은 고딕"/>
              </a:rPr>
              <a:t>독도</a:t>
            </a:r>
          </a:p>
        </p:txBody>
      </p:sp>
      <p:sp>
        <p:nvSpPr>
          <p:cNvPr id="11" name="Oval 10"/>
          <p:cNvSpPr/>
          <p:nvPr/>
        </p:nvSpPr>
        <p:spPr>
          <a:xfrm>
            <a:off x="10716768" y="2199132"/>
            <a:ext cx="329184" cy="329184"/>
          </a:xfrm>
          <a:prstGeom prst="ellipse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624328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B263B"/>
                </a:solidFill>
                <a:latin typeface="맑은 고딕"/>
              </a:rPr>
              <a:t>오키섬(일본)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737360"/>
            <a:ext cx="34591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3315C"/>
                </a:solidFill>
                <a:latin typeface="맑은 고딕"/>
              </a:rPr>
              <a:t>87.4km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7832" y="1737360"/>
            <a:ext cx="6233527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5C6B7A"/>
                </a:solidFill>
                <a:latin typeface="맑은 고딕"/>
              </a:rPr>
              <a:t>157.5km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E07A5F"/>
                </a:solidFill>
                <a:latin typeface="맑은 고딕"/>
              </a:rPr>
              <a:t>● </a:t>
            </a:r>
            <a:r>
              <a:rPr sz="2100">
                <a:solidFill>
                  <a:srgbClr val="1B263B"/>
                </a:solidFill>
                <a:latin typeface="맑은 고딕"/>
              </a:rPr>
              <a:t>독도의 주소는 경상북도 울릉군 울릉읍 독도리이고, 우리나라 영토의 가장 동쪽 끝에 있습니다.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E07A5F"/>
                </a:solidFill>
                <a:latin typeface="맑은 고딕"/>
              </a:rPr>
              <a:t>● </a:t>
            </a:r>
            <a:r>
              <a:rPr sz="2100">
                <a:solidFill>
                  <a:srgbClr val="1B263B"/>
                </a:solidFill>
                <a:latin typeface="맑은 고딕"/>
              </a:rPr>
              <a:t>독도는 울릉도에서 87.4km, 일본의 오키섬에서는 157.5km 떨어져 있습니다.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E07A5F"/>
                </a:solidFill>
                <a:latin typeface="맑은 고딕"/>
              </a:rPr>
              <a:t>● </a:t>
            </a:r>
            <a:r>
              <a:rPr sz="2100">
                <a:solidFill>
                  <a:srgbClr val="1B263B"/>
                </a:solidFill>
                <a:latin typeface="맑은 고딕"/>
              </a:rPr>
              <a:t>울릉도가 오키섬보다 약 1.8배 더 가깝습니다.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E07A5F"/>
                </a:solidFill>
                <a:latin typeface="맑은 고딕"/>
              </a:rPr>
              <a:t>● </a:t>
            </a:r>
            <a:r>
              <a:rPr sz="2100">
                <a:solidFill>
                  <a:srgbClr val="1B263B"/>
                </a:solidFill>
                <a:latin typeface="맑은 고딕"/>
              </a:rPr>
              <a:t>그래서 날씨가 맑은 날에는 울릉도에서 독도가 눈으로 보입니다.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외교부 독도, 동북아역사재단 독도 바로 알기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독도는 어떻게 만들어졌을까?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6B7A"/>
                </a:solidFill>
                <a:latin typeface="맑은 고딕"/>
              </a:rPr>
              <a:t>만들어진 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63B"/>
                </a:solidFill>
                <a:latin typeface="맑은 고딕"/>
              </a:rPr>
              <a:t>독도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240280"/>
            <a:ext cx="3566160" cy="292608"/>
          </a:xfrm>
          <a:prstGeom prst="rect">
            <a:avLst/>
          </a:prstGeom>
          <a:solidFill>
            <a:srgbClr val="DD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2240280"/>
            <a:ext cx="1628029" cy="29260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56032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B7A"/>
                </a:solidFill>
                <a:latin typeface="맑은 고딕"/>
              </a:rPr>
              <a:t>460만~250만 년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63B"/>
                </a:solidFill>
                <a:latin typeface="맑은 고딕"/>
              </a:rPr>
              <a:t>울릉도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3108960"/>
            <a:ext cx="3566160" cy="292608"/>
          </a:xfrm>
          <a:prstGeom prst="rect">
            <a:avLst/>
          </a:prstGeom>
          <a:solidFill>
            <a:srgbClr val="DD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1109" y="3108960"/>
            <a:ext cx="1930378" cy="292608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42900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B7A"/>
                </a:solidFill>
                <a:latin typeface="맑은 고딕"/>
              </a:rPr>
              <a:t>250만~1만 년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63B"/>
                </a:solidFill>
                <a:latin typeface="맑은 고딕"/>
              </a:rPr>
              <a:t>제주도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977640"/>
            <a:ext cx="3566160" cy="292608"/>
          </a:xfrm>
          <a:prstGeom prst="rect">
            <a:avLst/>
          </a:prstGeom>
          <a:solidFill>
            <a:srgbClr val="DD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8937" y="3977640"/>
            <a:ext cx="922550" cy="292608"/>
          </a:xfrm>
          <a:prstGeom prst="rect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29768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B7A"/>
                </a:solidFill>
                <a:latin typeface="맑은 고딕"/>
              </a:rPr>
              <a:t>120만~1만 년 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화산섬 형제의 맏형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DA9C4"/>
                </a:solidFill>
                <a:latin typeface="맑은 고딕"/>
              </a:rPr>
              <a:t>바닥 지름 약 30km 해저 화산의 꼭대기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7830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독도는 바다 밑 약 2,000m에서 화산이 폭발해, 용암이 굳으면서 생긴 화산섬입니다.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우리가 보는 독도는 바닥 지름이 약 30km나 되는 거대한 해저 화산의 꼭대기 부분입니다.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독도는 약 460만 년 전부터 만들어지기 시작했습니다.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울릉도와 제주도보다 훨씬 먼저 생겨서, 화산섬 형제 중 ‘맏형’이라고도 부릅니다.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동북아역사재단 독도 바로 알기(고등), 국회도서관 독도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독도는 무엇으로 이루어져 있을까?</a:t>
            </a:r>
          </a:p>
        </p:txBody>
      </p:sp>
      <p:pic>
        <p:nvPicPr>
          <p:cNvPr id="6" name="Picture 5" descr="KOCIS_Dokdo_Islands_28492539771729.jpg"/>
          <p:cNvPicPr>
            <a:picLocks noChangeAspect="1"/>
          </p:cNvPicPr>
          <p:nvPr/>
        </p:nvPicPr>
        <p:blipFill>
          <a:blip r:embed="rId2"/>
          <a:srcRect t="7692" b="17949"/>
          <a:stretch>
            <a:fillRect/>
          </a:stretch>
        </p:blipFill>
        <p:spPr>
          <a:xfrm>
            <a:off x="640080" y="1783080"/>
            <a:ext cx="475488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62272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왼쪽 동도 · 오른쪽 서도 (사진: KOCIS, CC BY-SA 2.0)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B2545"/>
                </a:solidFill>
                <a:latin typeface="맑은 고딕"/>
              </a:rPr>
              <a:t>동도 98.6m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B7A"/>
                </a:solidFill>
                <a:latin typeface="맑은 고딕"/>
              </a:rPr>
              <a:t>우산봉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846320"/>
            <a:ext cx="2286000" cy="13258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50292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서도 168.5m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571500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DA9C4"/>
                </a:solidFill>
                <a:latin typeface="맑은 고딕"/>
              </a:rPr>
              <a:t>대한봉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830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독도는 하나의 섬이 아니라 동도와 서도, 그리고 89개의 작은 바위섬으로 이루어져 있습니다. 모두 합하면 91개입니다.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동도의 가장 높은 곳은 우산봉으로 98.6m, 서도의 가장 높은 곳은 대한봉으로 168.5m입니다.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서도가 동도보다 더 크고 높습니다.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두 섬 사이의 거리는 151m이고, 전체 면적은 약 18만 7천㎡입니다.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외교부 독도, 세종시교육청 독도전시관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독도의 날씨는 어떨까?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B2545"/>
                </a:solidFill>
                <a:latin typeface="맑은 고딕"/>
              </a:rPr>
              <a:t>약 12~14℃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B7A"/>
                </a:solidFill>
                <a:latin typeface="맑은 고딕"/>
              </a:rPr>
              <a:t>연평균 기온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흐린 날 160일↑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DA9C4"/>
                </a:solidFill>
                <a:latin typeface="맑은 고딕"/>
              </a:rPr>
              <a:t>안개가 잦음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B2545"/>
                </a:solidFill>
                <a:latin typeface="맑은 고딕"/>
              </a:rPr>
              <a:t>강한 북동풍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7784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B7A"/>
                </a:solidFill>
                <a:latin typeface="맑은 고딕"/>
              </a:rPr>
              <a:t>겨울에 배가 못 뜨기도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7830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독도는 따뜻한 바닷물인 난류의 영향을 받는 해양성 기후입니다.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연평균 기온은 약 12~14℃로, 겨울에도 비교적 따뜻한 편입니다.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하지만 안개가 자주 끼고, 흐린 날이 1년에 160일이 넘습니다.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겨울에는 강한 북동풍이 불어서 배가 들어가지 못하는 날도 많습니다.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기온과 강수량은 조사한 기관과 시기에 따라 조금씩 다르게 발표됩니다.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외교부 독도(동북아역사재단 인용), 국회도서관 독도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독도에 사는 생물들</a:t>
            </a:r>
          </a:p>
        </p:txBody>
      </p:sp>
      <p:pic>
        <p:nvPicPr>
          <p:cNvPr id="6" name="Picture 5" descr="Dokdo_20080628-panorama.jpg"/>
          <p:cNvPicPr>
            <a:picLocks noChangeAspect="1"/>
          </p:cNvPicPr>
          <p:nvPr/>
        </p:nvPicPr>
        <p:blipFill>
          <a:blip r:embed="rId2"/>
          <a:srcRect l="15496" r="15496"/>
          <a:stretch>
            <a:fillRect/>
          </a:stretch>
        </p:blipFill>
        <p:spPr>
          <a:xfrm>
            <a:off x="640080" y="1783080"/>
            <a:ext cx="475488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62272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독도 위를 나는 괭이갈매기 (사진: Wikimedia Commons, CC BY-SA 2.0 KR)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천연기념물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DA9C4"/>
                </a:solidFill>
                <a:latin typeface="맑은 고딕"/>
              </a:rPr>
              <a:t>섬 전체가 ‘독도천연보호구역’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830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독도는 섬 전체가 천연기념물인 ‘독도천연보호구역’입니다.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대표 동물은 괭이갈매기로, 4~6월 번식기에는 섬을 뒤덮을 정도로 많아집니다.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바다제비, 슴새, 멸종위기종인 뿔쇠오리도 살고 있습니다.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E07A5F"/>
                </a:solidFill>
                <a:latin typeface="맑은 고딕"/>
              </a:rPr>
              <a:t>● </a:t>
            </a:r>
            <a:r>
              <a:rPr sz="1900">
                <a:solidFill>
                  <a:srgbClr val="1B263B"/>
                </a:solidFill>
                <a:latin typeface="맑은 고딕"/>
              </a:rPr>
              <a:t>흙이 적고 경사가 심해 식물이 자라기 어렵지만, 해국·섬기린초 같은 식물 약 60종과 곤충 약 130종이 살고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외교부 독도, 한국민족문화대백과사전, 디지털울릉문화대전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B2545"/>
                </a:solidFill>
                <a:latin typeface="맑은 고딕"/>
              </a:rPr>
              <a:t>독도 바다는 보물창고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40080" y="1737360"/>
            <a:ext cx="4754880" cy="731520"/>
          </a:xfrm>
          <a:prstGeom prst="rightArrow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2545"/>
                </a:solidFill>
                <a:latin typeface="맑은 고딕"/>
              </a:rPr>
              <a:t>북한 한류 (차가움)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" y="2560320"/>
            <a:ext cx="4754880" cy="731520"/>
          </a:xfrm>
          <a:prstGeom prst="rightArrow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쓰시마 난류 (따뜻함)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2545"/>
                </a:solidFill>
                <a:latin typeface="맑은 고딕"/>
              </a:rPr>
              <a:t>= 조경수역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B7A"/>
                </a:solidFill>
                <a:latin typeface="맑은 고딕"/>
              </a:rPr>
              <a:t>플랑크톤이 풍부한 황금어장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4297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메탄 하이드레이트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6072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DA9C4"/>
                </a:solidFill>
                <a:latin typeface="맑은 고딕"/>
              </a:rPr>
              <a:t>‘불타는 얼음’, 약 6억 톤 추정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830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E07A5F"/>
                </a:solidFill>
                <a:latin typeface="맑은 고딕"/>
              </a:rPr>
              <a:t>● </a:t>
            </a:r>
            <a:r>
              <a:rPr sz="1800">
                <a:solidFill>
                  <a:srgbClr val="1B263B"/>
                </a:solidFill>
                <a:latin typeface="맑은 고딕"/>
              </a:rPr>
              <a:t>독도 주변에서는 차가운 북한 한류와 따뜻한 쓰시마 난류가 만나는데, 이런 곳을 ‘조경수역’이라고 합니다.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E07A5F"/>
                </a:solidFill>
                <a:latin typeface="맑은 고딕"/>
              </a:rPr>
              <a:t>● </a:t>
            </a:r>
            <a:r>
              <a:rPr sz="1800">
                <a:solidFill>
                  <a:srgbClr val="1B263B"/>
                </a:solidFill>
                <a:latin typeface="맑은 고딕"/>
              </a:rPr>
              <a:t>물고기의 먹이인 플랑크톤이 풍부해서 오징어, 꽁치, 전복, 미역 등이 많이 잡히는 황금어장입니다.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E07A5F"/>
                </a:solidFill>
                <a:latin typeface="맑은 고딕"/>
              </a:rPr>
              <a:t>● </a:t>
            </a:r>
            <a:r>
              <a:rPr sz="1800">
                <a:solidFill>
                  <a:srgbClr val="1B263B"/>
                </a:solidFill>
                <a:latin typeface="맑은 고딕"/>
              </a:rPr>
              <a:t>바다 밑에는 ‘불타는 얼음’이라 불리는 미래 에너지, 메탄 하이드레이트가 약 6억 톤 묻혀 있을 것으로 추정됩니다.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>
                <a:solidFill>
                  <a:srgbClr val="E07A5F"/>
                </a:solidFill>
                <a:latin typeface="맑은 고딕"/>
              </a:rPr>
              <a:t>● </a:t>
            </a:r>
            <a:r>
              <a:rPr sz="1800">
                <a:solidFill>
                  <a:srgbClr val="1B263B"/>
                </a:solidFill>
                <a:latin typeface="맑은 고딕"/>
              </a:rPr>
              <a:t>깨끗하고 차가운 해양 심층수도 음료나 화장품에 쓰이는 소중한 자원입니다.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7A"/>
                </a:solidFill>
                <a:latin typeface="맑은 고딕"/>
              </a:rPr>
              <a:t>출처: 외교부 독도, 티칭허브 독도, 한국에너지공단 (매장량은 2000년대 탐사 추정치)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OCIS_Dokdo_Islands_28492599139229.jpg"/>
          <p:cNvPicPr>
            <a:picLocks noChangeAspect="1"/>
          </p:cNvPicPr>
          <p:nvPr/>
        </p:nvPicPr>
        <p:blipFill>
          <a:blip r:embed="rId2"/>
          <a:srcRect l="9836" r="9836"/>
          <a:stretch>
            <a:fillRect/>
          </a:stretch>
        </p:blipFill>
        <p:spPr>
          <a:xfrm>
            <a:off x="8503920" y="0"/>
            <a:ext cx="36877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6868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A5F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772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독도가 소중한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E07A5F"/>
                </a:solidFill>
                <a:latin typeface="맑은 고딕"/>
              </a:rPr>
              <a:t>● </a:t>
            </a:r>
            <a:r>
              <a:rPr sz="2000">
                <a:solidFill>
                  <a:srgbClr val="FFFFFF"/>
                </a:solidFill>
                <a:latin typeface="맑은 고딕"/>
              </a:rPr>
              <a:t>첫째, 독도는 우리나라의 가장 동쪽 끝을 지키는 섬입니다.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E07A5F"/>
                </a:solidFill>
                <a:latin typeface="맑은 고딕"/>
              </a:rPr>
              <a:t>● </a:t>
            </a:r>
            <a:r>
              <a:rPr sz="2000">
                <a:solidFill>
                  <a:srgbClr val="FFFFFF"/>
                </a:solidFill>
                <a:latin typeface="맑은 고딕"/>
              </a:rPr>
              <a:t>둘째, 우리 바다의 영역을 정하는 기준점이 됩니다.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E07A5F"/>
                </a:solidFill>
                <a:latin typeface="맑은 고딕"/>
              </a:rPr>
              <a:t>● </a:t>
            </a:r>
            <a:r>
              <a:rPr sz="2000">
                <a:solidFill>
                  <a:srgbClr val="FFFFFF"/>
                </a:solidFill>
                <a:latin typeface="맑은 고딕"/>
              </a:rPr>
              <a:t>셋째, 섬 전체가 천연기념물인 살아 있는 자연 유산입니다.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E07A5F"/>
                </a:solidFill>
                <a:latin typeface="맑은 고딕"/>
              </a:rPr>
              <a:t>● </a:t>
            </a:r>
            <a:r>
              <a:rPr sz="2000">
                <a:solidFill>
                  <a:srgbClr val="FFFFFF"/>
                </a:solidFill>
                <a:latin typeface="맑은 고딕"/>
              </a:rPr>
              <a:t>독도를 지키는 첫걸음은 독도를 바르게 아는 것입니다. 기본 상식부터 바로 알기, 오늘 발표가 그 시작이 되었으면 좋겠습니다.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E07A5F"/>
                </a:solidFill>
                <a:latin typeface="맑은 고딕"/>
              </a:rPr>
              <a:t>● </a:t>
            </a:r>
            <a:r>
              <a:rPr sz="2000">
                <a:solidFill>
                  <a:srgbClr val="FFFFFF"/>
                </a:solidFill>
                <a:latin typeface="맑은 고딕"/>
              </a:rPr>
              <a:t>이상 1조의 발표를 마치겠습니다. 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DA9C4"/>
                </a:solidFill>
                <a:latin typeface="맑은 고딕"/>
              </a:rPr>
              <a:t>사진: KOCIS, Wikimedia Commons (CC BY-SA 2.0)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